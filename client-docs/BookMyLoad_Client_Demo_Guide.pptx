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opening to position BookMyLoad as one connected workspace for operations, drivers, compliance and commercial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business-led. The value is fewer spreadsheets, fewer disconnected calls and better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load is the demand/commercial record; a trip is the physical execution record. This distinction is important.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every record is scoped to an organization. This prevents one company from seeing another company’s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describe SQLite as the production recommendation. PostgreSQL is the shared deployment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demo, start both services 15 minutes early and keep the two terminals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login once. Avoid logging out during the main flow unless role routing is part of the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guides users, but the backend is the enforcement point. Drivers are automatically routed to their separate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left navigation as the agenda during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executive opening screen. Point out that cards use live organization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customer and both locations before creating a load. Capacity and compliance are checked during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answers a common client question and prevents confusion between customer and carrier.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smooth demo, prepare at least one available vehicle with capacity greater than the sample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driver profile alone is not a login. Use Invite to driver app to connect a Google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trip creation exists, but the load-first workflow is the strongest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phone-sized browser window if possible. The separate portal demonstrates least-privilege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indoor GPS is unreliable, explain the feature using prepared points or the interface; do not let location permission derail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valid document and one expiring example so the dashboard and notifications tell a visible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payment gateway is required; this records real-world payments received outside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driver can submit own expenses; owner or operations admin approves. This creates a clear control separation.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chart and export uses the same active filters. Select a table before CSV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transparent: SMTP is not configured in the current local environment, so demonstrate queue/status rather than actual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visual quick-action buttons are presentation placeholders. Focus on organization access and email controls, which are operational.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narrative spine. Return to it whenever the client asks where a feature 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try to edit every field. Show the lifecycle and use prepared records for stages that would take too long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demo failures are OAuth origin mismatch, invalid compliance, unavailable resources and denied browser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use real customer personal data in a sales demonstration unless the client has explicitly approved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trust. Phrase these as normal deployment integrations, not product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answers. They become the implementation scope and prioritised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lifecycle outcome, then invite questions or offer to repeat any workflow in the live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3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FF61"/>
          </a:solidFill>
          <a:ln w="12700">
            <a:solidFill>
              <a:srgbClr val="D8FF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468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BOOKMYLOAD  /  CLIENT DEMO GUIDE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61320" y="2468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3756F"/>
                </a:solidFill>
              </a:rPr>
              <a:t>AUGUST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18520" cy="0"/>
          </a:xfrm>
          <a:prstGeom prst="line">
            <a:avLst/>
          </a:prstGeom>
          <a:noFill/>
          <a:ln w="12700">
            <a:solidFill>
              <a:srgbClr val="D9E1D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pic>
        <p:nvPicPr>
          <p:cNvPr id="3" name="Image 0" descr="D:\freelance\BML\BML\frontend\public\logistics-hero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7635240" cy="6858000"/>
          </a:xfrm>
          <a:prstGeom prst="rect">
            <a:avLst/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987552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DEMONSTRATION GUIDE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4944" y="1847088"/>
            <a:ext cx="5943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BookMyLoad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2944368"/>
            <a:ext cx="52578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C9D4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Transport &amp; Logistics Operations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31520" y="5230368"/>
            <a:ext cx="1828800" cy="0"/>
          </a:xfrm>
          <a:prstGeom prst="line">
            <a:avLst/>
          </a:prstGeom>
          <a:noFill/>
          <a:ln w="63500">
            <a:solidFill>
              <a:srgbClr val="D8FF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504688"/>
            <a:ext cx="5303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FA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the current application ·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BookMyLoad solves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operating system for the transport lifecycle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00200"/>
            <a:ext cx="5321808" cy="1572768"/>
          </a:xfrm>
          <a:prstGeom prst="roundRect">
            <a:avLst>
              <a:gd name="adj" fmla="val 8140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64792"/>
            <a:ext cx="48463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" y="2167128"/>
            <a:ext cx="48006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customers, locations, loads and quotations.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21808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64792"/>
            <a:ext cx="48463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167128"/>
            <a:ext cx="48006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vehicles and drivers; control milestones and delivery proof.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3538728"/>
            <a:ext cx="5321808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703320"/>
            <a:ext cx="48463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" y="4105656"/>
            <a:ext cx="48006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compliance, expenses, collections and profitability.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538728"/>
            <a:ext cx="5321808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703320"/>
            <a:ext cx="48463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4105656"/>
            <a:ext cx="48006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live dashboards, reports and exports to improve decisions.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 basics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language for the demonstration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572768"/>
            <a:ext cx="532180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82496"/>
            <a:ext cx="1508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13432" y="1682496"/>
            <a:ext cx="3383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company or partner that moves goods. It may use its own fleet or an external carrier.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72768"/>
            <a:ext cx="532180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82496"/>
            <a:ext cx="1508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Shipper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09560" y="1682496"/>
            <a:ext cx="3383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requesting goods movement and paying for the service.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" y="3054096"/>
            <a:ext cx="532180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163824"/>
            <a:ext cx="1508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13432" y="3163824"/>
            <a:ext cx="3383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commercial movement request: cargo, weight, pickup, delivery, dates and price.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054096"/>
            <a:ext cx="532180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163824"/>
            <a:ext cx="1508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09560" y="3163824"/>
            <a:ext cx="3383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execution record created when a load is assigned to a driver and vehicle.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4535424"/>
            <a:ext cx="532180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645152"/>
            <a:ext cx="1508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Consignee / Recipient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13432" y="4645152"/>
            <a:ext cx="3383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person or business receiving the cargo at destination.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535424"/>
            <a:ext cx="532180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645152"/>
            <a:ext cx="1508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4645152"/>
            <a:ext cx="3383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of Delivery: recipient identity plus OTP, signature or photo confirming handover.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records and how they connect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operating data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2331720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441448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88751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8479" y="2331720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3343" y="2441448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+ Locations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65438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75166" y="2331720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0030" y="2441448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42125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51853" y="2331720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6717" y="2441448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8811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28539" y="2331720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3403" y="2441448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+ Vehicle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5498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05226" y="2331720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0090" y="2441448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72185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81913" y="2331720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36777" y="2441448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+ Payment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5440680"/>
            <a:ext cx="10561320" cy="566928"/>
          </a:xfrm>
          <a:prstGeom prst="roundRect">
            <a:avLst>
              <a:gd name="adj" fmla="val 19355"/>
            </a:avLst>
          </a:prstGeom>
          <a:solidFill>
            <a:srgbClr val="D8FF61"/>
          </a:solidFill>
          <a:ln w="12700">
            <a:solidFill>
              <a:srgbClr val="D8FF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5541264"/>
            <a:ext cx="101955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documents, GPS updates, notifications and expenses attach to this chain.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portable and production-ready foundations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web application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operations workspace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Mobile-focused driver portal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OpenStreetMap / Leaflet views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REST API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Sign-In and secure session cookie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permission enforcement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reminder worker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deployment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3024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for local demo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supported for shared production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 + Alembic migrations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documentation at /docs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application locally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terminals, then open the browser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55448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Backend (PowerShell)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664208"/>
            <a:ext cx="8485632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.\.venv\Scripts\python.exe -m pip install -r requirements.txt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.\.venv\Scripts\python.exe -m alembic -c alembic.ini upgrade head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.\.venv\Scripts\python.exe -m uvicorn server:app --reload --host 127.0.0.1 --port 8000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297180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81528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Frontend (second terminal)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3081528"/>
            <a:ext cx="8485632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--legacy-peer-deps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438912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E9EEE7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98848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Open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4498848"/>
            <a:ext cx="8485632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Web: http://localhost:3000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docs: http://localhost:8000/docs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5897880"/>
            <a:ext cx="10835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47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Prerequisites: Python 3.11+, Node.js 20+, configured Google OAuth client ID. Restart after environment changes.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and organization access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first, tenant isolation by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sign in with Google; the application verifies the credential on the backend.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verified user creates the first organization and becomes Organization Owner.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users must be invited for their exact Google email address.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with multiple memberships can switch organizations from the sidebar.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operational and reporting queries are restricted to the active organization.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and permissions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experiences, controlled at the API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572768"/>
            <a:ext cx="2057400" cy="640080"/>
          </a:xfrm>
          <a:prstGeom prst="rect">
            <a:avLst/>
          </a:prstGeom>
          <a:solidFill>
            <a:srgbClr val="10241F"/>
          </a:solidFill>
          <a:ln w="889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609344"/>
            <a:ext cx="189280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79192" y="1572768"/>
            <a:ext cx="2423160" cy="640080"/>
          </a:xfrm>
          <a:prstGeom prst="rect">
            <a:avLst/>
          </a:prstGeom>
          <a:solidFill>
            <a:srgbClr val="10241F"/>
          </a:solidFill>
          <a:ln w="8890">
            <a:solidFill>
              <a:srgbClr val="1024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61488" y="1609344"/>
            <a:ext cx="2258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user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02352" y="1572768"/>
            <a:ext cx="6446520" cy="640080"/>
          </a:xfrm>
          <a:prstGeom prst="rect">
            <a:avLst/>
          </a:prstGeom>
          <a:solidFill>
            <a:srgbClr val="10241F"/>
          </a:solidFill>
          <a:ln w="8890">
            <a:solidFill>
              <a:srgbClr val="1024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4648" y="1609344"/>
            <a:ext cx="628192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summary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212848"/>
            <a:ext cx="2057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249424"/>
            <a:ext cx="189280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Owner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2679192" y="2212848"/>
            <a:ext cx="24231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2249424"/>
            <a:ext cx="2258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owner / super admin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102352" y="2212848"/>
            <a:ext cx="64465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2249424"/>
            <a:ext cx="628192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features, organization and member management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1792" y="2852928"/>
            <a:ext cx="2057400" cy="640080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89504"/>
            <a:ext cx="189280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Admin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2679192" y="2852928"/>
            <a:ext cx="2423160" cy="640080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2889504"/>
            <a:ext cx="2258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manager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102352" y="2852928"/>
            <a:ext cx="6446520" cy="640080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889504"/>
            <a:ext cx="628192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fleet, drivers, loads, trips, compliance, finance, costs and reports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21792" y="3493008"/>
            <a:ext cx="2057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529584"/>
            <a:ext cx="189280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Dispatcher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2679192" y="3493008"/>
            <a:ext cx="24231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3529584"/>
            <a:ext cx="2258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Control-room operator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5102352" y="3493008"/>
            <a:ext cx="64465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529584"/>
            <a:ext cx="628192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loads/trips; view resources, compliance and finance; create/update expenses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621792" y="4133088"/>
            <a:ext cx="2057400" cy="640080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4169664"/>
            <a:ext cx="189280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2679192" y="4133088"/>
            <a:ext cx="2423160" cy="640080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4169664"/>
            <a:ext cx="2258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/ auditor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5102352" y="4133088"/>
            <a:ext cx="6446520" cy="640080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4169664"/>
            <a:ext cx="628192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operational, financial and reporting access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21792" y="4773168"/>
            <a:ext cx="2057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4809744"/>
            <a:ext cx="189280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2679192" y="4773168"/>
            <a:ext cx="24231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61488" y="4809744"/>
            <a:ext cx="225856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driver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102352" y="4773168"/>
            <a:ext cx="64465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84648" y="4809744"/>
            <a:ext cx="628192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trips, inspections, milestones, location, POD, documents and expenses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workspace in the operations application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2062886" cy="4361688"/>
          </a:xfrm>
          <a:prstGeom prst="roundRect">
            <a:avLst>
              <a:gd name="adj" fmla="val 6206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64792"/>
            <a:ext cx="169712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240280"/>
            <a:ext cx="1733702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30982" y="1572768"/>
            <a:ext cx="2062886" cy="4361688"/>
          </a:xfrm>
          <a:prstGeom prst="roundRect">
            <a:avLst>
              <a:gd name="adj" fmla="val 6206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3862" y="1764792"/>
            <a:ext cx="169712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95574" y="2240280"/>
            <a:ext cx="1733702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tracking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58461" y="1572768"/>
            <a:ext cx="2062886" cy="4361688"/>
          </a:xfrm>
          <a:prstGeom prst="roundRect">
            <a:avLst>
              <a:gd name="adj" fmla="val 6206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1341" y="1764792"/>
            <a:ext cx="169712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23053" y="2240280"/>
            <a:ext cx="1733702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85939" y="1572768"/>
            <a:ext cx="2062886" cy="4361688"/>
          </a:xfrm>
          <a:prstGeom prst="roundRect">
            <a:avLst>
              <a:gd name="adj" fmla="val 6206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8819" y="1764792"/>
            <a:ext cx="169712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50531" y="2240280"/>
            <a:ext cx="1733702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 costs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13418" y="1572768"/>
            <a:ext cx="2062886" cy="4361688"/>
          </a:xfrm>
          <a:prstGeom prst="roundRect">
            <a:avLst>
              <a:gd name="adj" fmla="val 6206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6298" y="1764792"/>
            <a:ext cx="169712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78010" y="2240280"/>
            <a:ext cx="1733702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switcher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/ logout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morning control-tower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trips and trips completed today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vehicles and available drivers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profit and margin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trip movements and execution-status mix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Items needing attention: delayed work, unpaid invoices, compliance, approvals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Revenue, approved costs and on-time delivery summary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5486400"/>
            <a:ext cx="10561320" cy="530352"/>
          </a:xfrm>
          <a:prstGeom prst="roundRect">
            <a:avLst>
              <a:gd name="adj" fmla="val 17241"/>
            </a:avLst>
          </a:prstGeom>
          <a:solidFill>
            <a:srgbClr val="D8FF61"/>
          </a:solidFill>
          <a:ln w="12700">
            <a:solidFill>
              <a:srgbClr val="D8FF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577840"/>
            <a:ext cx="1022299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use: begin each operating day here, then drill into exceptions.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customer demand becomes executable 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customers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pickup/delivery locations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or pick locations on a map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optional external transporters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details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and customer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Cargo type, quantity and weight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Pickup time and delivery deadline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Quoted amount, transporter and handling notes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3024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-&gt; Submitted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-&gt; Scheduled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-&gt; In execution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-&gt; Closed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or cancel when required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 transporter?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Own-fleet and partner-carrier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transporter is the organization physically responsible for moving goods.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BookMyLoad can operate with the company’s own drivers and vehicles.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external transporter can also be registered with contact details and service areas.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transporter is optional on a load, allowing mixed own-fleet and outsourced operations.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5486400"/>
            <a:ext cx="10561320" cy="530352"/>
          </a:xfrm>
          <a:prstGeom prst="roundRect">
            <a:avLst>
              <a:gd name="adj" fmla="val 17241"/>
            </a:avLst>
          </a:prstGeom>
          <a:solidFill>
            <a:srgbClr val="D8FF61"/>
          </a:solidFill>
          <a:ln w="12700">
            <a:solidFill>
              <a:srgbClr val="D8FF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577840"/>
            <a:ext cx="1022299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language: Customer gives us the load; transporter moves it; driver and vehicle execute the trip.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master and availability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or edit registration number, vehicle type, make, model and year.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capacity in tons, fuel type and current location.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the fleet and change status: Available, In Transit, Maintenance or Offline.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available, capacity-compatible and compliant vehicles should be allocated.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documents are maintained in the Compliance workspace.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Drivers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master, readiness and app invitation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driver profile with phone, email, licence number and expiry.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address and emergency contact.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availability: Available, On Trip, Off Duty or On Leave.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rating and total-trip indicators.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the driver’s Google email to link the profile to the driver portal.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Expired licence or critical compliance failures can block allocation.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Trips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and operational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Trips are created by allocating a scheduled load, or can be created directly.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an available driver and vehicle.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and filter trips by status.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route, cargo, schedule, customer and assignment.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assignment/start/completion states from operations.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 load status updates automatically as execution progresses.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5486400"/>
            <a:ext cx="10561320" cy="530352"/>
          </a:xfrm>
          <a:prstGeom prst="roundRect">
            <a:avLst>
              <a:gd name="adj" fmla="val 17241"/>
            </a:avLst>
          </a:prstGeom>
          <a:solidFill>
            <a:srgbClr val="D8FF61"/>
          </a:solidFill>
          <a:ln w="12700">
            <a:solidFill>
              <a:srgbClr val="D8FF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577840"/>
            <a:ext cx="1022299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workflow: create a load first, then allocate it. This preserves the commercial-to-operational link.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portal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mobile workflow for the person on the road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assignment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88751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8479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3343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trip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65438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75166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0030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inspection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42125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51853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6717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trip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8811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28539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3403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milestones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5498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05226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0090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72185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81913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36777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2743200"/>
            <a:ext cx="1060704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trips assigned to the linked driver profile are visible.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Pre-trip checks cover tyres, brakes, lights, mirrors and vehicle documents.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are ordered: pickup arrival, loading, pickup departure, destination arrival.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 requires recipient plus at least one of OTP, signature or photo.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Drivers can call the customer and record delivery/damage/shortage notes.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Tracking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visibility without a paid map dependency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geolocation sends sampled GPS points during in-progress trips.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OpenStreetMap shows vehicle marker, route history and pickup/destination context.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Refreshes every 15 seconds and shows GPS accuracy, speed and update age.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Stale/no-signal alerts surface exceptions.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500-metre geofences suggest milestones; the driver still confirms the event.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5486400"/>
            <a:ext cx="10561320" cy="530352"/>
          </a:xfrm>
          <a:prstGeom prst="roundRect">
            <a:avLst>
              <a:gd name="adj" fmla="val 17241"/>
            </a:avLst>
          </a:prstGeom>
          <a:solidFill>
            <a:srgbClr val="D8FF61"/>
          </a:solidFill>
          <a:ln w="12700">
            <a:solidFill>
              <a:srgbClr val="D8FF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577840"/>
            <a:ext cx="1022299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requires browser location permission and an in-progress trip.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Documents, verification and allocation safeguards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documents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Driving licence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/ medical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documents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and fitness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Pollution and permits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features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3024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PDF/image upload, max 5 MB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/ verified / rejected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/ expiring in 30 days / expired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Preview, verify, reject and delete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486400"/>
            <a:ext cx="10607040" cy="548640"/>
          </a:xfrm>
          <a:prstGeom prst="roundRect">
            <a:avLst>
              <a:gd name="adj" fmla="val 16667"/>
            </a:avLst>
          </a:prstGeom>
          <a:solidFill>
            <a:srgbClr val="FBE9E6"/>
          </a:solidFill>
          <a:ln w="12700">
            <a:solidFill>
              <a:srgbClr val="EAB9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577840"/>
            <a:ext cx="10241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47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Expired or rejected critical documents—and expired driver licences—can block trip allocation.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Quotation to collection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quote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88751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8479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3343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sent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65438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75166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0030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accepts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42125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51853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6717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load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8811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28539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3403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invoice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5498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05226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0090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invoice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72185" y="1783080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81913" y="1627632"/>
            <a:ext cx="1466959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36777" y="1737360"/>
            <a:ext cx="1357231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payment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2743200"/>
            <a:ext cx="1060704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Itemized quotation: base freight, fuel, toll, handling, tax, validity and terms.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quotation updates the load’s quoted amount.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 are created only for delivered/closed loads.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partial payment and outstanding balance.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Methods: bank transfer, UPI, cash, cheque or other; reference/UTR can be stored.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 dates and overdue status support collection follow-up.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 Costs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 approval and load-level profitability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 include fuel, toll, parking, allowance, transporter, loading, unloading, repair, fine and miscellaneous.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estimated amount, actual amount, vendor, date and reference.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an optional PDF/image receipt.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Workflow: Draft -&gt; Submitted -&gt; Approved or Rejected.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approved actual costs reduce realized profit.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uses pre-tax invoice revenue, then accepted quotation/load price as fallback.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operations and financial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range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Customer, driver, vehicle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and invoice status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 category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 and completion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On-time delivery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collections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Outstanding, cost, profit and margin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&amp; output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3024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performance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performance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activity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 categories and invoice ageing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export and Print / PDF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 and reminders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reactive calls to managed exceptions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In-app notifications cover assignments, failed inspections, document uploads and deliveries.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checks cover invoice due dates, compliance expiry, delayed loads and pending approvals.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is provider-neutral through SMTP.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durable outbox tracks queued, sent, retry and failed states.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delays and reminder deduplication prevent repeated hourly messages.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SMTP credentials, messages safely remain queued for testing.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 tab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Account, company and communications administration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Profile: Google identity, email and active role.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information: organization, industry, country and timezone.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access: invite members, assign roles, update roles, remove members and revoke invitations.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preferences and email/reminder configuration.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outbox visibility and manual reminder scan controls.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switcher for users belonging to more than one tenant.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business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story to demonstrate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Customer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15745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5473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0337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Locations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19426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29154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4018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23106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32834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7698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Approve &amp; schedule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26787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36515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1379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Allocate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0468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40196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5060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Driver executes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4149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43877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8741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POD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37830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47558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2422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Invoice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41510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51238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6102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Payment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45191" y="2487168"/>
            <a:ext cx="1097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554919" y="2331720"/>
            <a:ext cx="993953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9783" y="2441448"/>
            <a:ext cx="884225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Profit report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" y="5440680"/>
            <a:ext cx="10561320" cy="566928"/>
          </a:xfrm>
          <a:prstGeom prst="roundRect">
            <a:avLst>
              <a:gd name="adj" fmla="val 19355"/>
            </a:avLst>
          </a:prstGeom>
          <a:solidFill>
            <a:srgbClr val="D8FF61"/>
          </a:solidFill>
          <a:ln w="12700">
            <a:solidFill>
              <a:srgbClr val="D8FF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5541264"/>
            <a:ext cx="101955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connected chain: demand -&gt; dispatch -&gt; delivery -&gt; cash -&gt; insight.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live demo - 15 minutes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reliable sequence that tells one complete story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527048"/>
            <a:ext cx="393192" cy="3931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63624"/>
            <a:ext cx="3931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25296" y="1490472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0-2 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1490472"/>
            <a:ext cx="8732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page, Google sign-in, organization and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139696"/>
            <a:ext cx="393192" cy="3931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76272"/>
            <a:ext cx="3931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25296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2-5 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2103120"/>
            <a:ext cx="8732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Loads: customer/location -&gt; create sample load -&gt; progress to Scheduled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752344"/>
            <a:ext cx="393192" cy="3931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88920"/>
            <a:ext cx="3931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25296" y="2715768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5-7 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2715768"/>
            <a:ext cx="8732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Fleet/Drivers readiness -&gt; allocate load -&gt; linked trip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393192" cy="39319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01568"/>
            <a:ext cx="3931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25296" y="3328416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7-10 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3328416"/>
            <a:ext cx="8732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portal: accept, inspection, start, milestones and POD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3977640"/>
            <a:ext cx="393192" cy="39319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014216"/>
            <a:ext cx="3931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25296" y="3941064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10-12 min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23160" y="3941064"/>
            <a:ext cx="8732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and Compliance exception controls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4590288"/>
            <a:ext cx="393192" cy="39319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626864"/>
            <a:ext cx="3931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25296" y="4553712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12-14 min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23160" y="4553712"/>
            <a:ext cx="8732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Finance: quotation/invoice/payment; Trip Costs approval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5202936"/>
            <a:ext cx="393192" cy="39319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5239512"/>
            <a:ext cx="39319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5166360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8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14-15 min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23160" y="5166360"/>
            <a:ext cx="8732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Reports, exports, roles and closing value statement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Pre-demo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these before the client joins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618488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09344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" y="1563624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starts and /docs opens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190488" y="1490472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618488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609344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84264" y="1563624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starts and Google login succeeds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58368" y="2203704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331720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322576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" y="2276856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account and organization are correct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190488" y="2203704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2331720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322576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84264" y="2276856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customer with two mapped locations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58368" y="2916936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3044952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035808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" y="2990088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available driver linked to a driver login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6190488" y="2916936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3044952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035808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84264" y="2990088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available vehicle with enough capacity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58368" y="3630168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3758184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" y="3703320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documents valid for allocation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6190488" y="3630168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27648" y="3758184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84264" y="3703320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sample load at each useful lifecycle stage</a:t>
            </a:r>
            <a:endParaRPr lang="en-US" sz="1230" dirty="0"/>
          </a:p>
        </p:txBody>
      </p:sp>
      <p:sp>
        <p:nvSpPr>
          <p:cNvPr id="36" name="Shape 34"/>
          <p:cNvSpPr/>
          <p:nvPr/>
        </p:nvSpPr>
        <p:spPr>
          <a:xfrm>
            <a:off x="658368" y="4343400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" y="4471416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4462272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" y="4416552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location permission tested</a:t>
            </a:r>
            <a:endParaRPr lang="en-US" sz="1230" dirty="0"/>
          </a:p>
        </p:txBody>
      </p:sp>
      <p:sp>
        <p:nvSpPr>
          <p:cNvPr id="40" name="Shape 38"/>
          <p:cNvSpPr/>
          <p:nvPr/>
        </p:nvSpPr>
        <p:spPr>
          <a:xfrm>
            <a:off x="6190488" y="4343400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4471416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4462272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84264" y="4416552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and expense sample records prepared</a:t>
            </a:r>
            <a:endParaRPr lang="en-US" sz="1230" dirty="0"/>
          </a:p>
        </p:txBody>
      </p:sp>
      <p:sp>
        <p:nvSpPr>
          <p:cNvPr id="44" name="Shape 42"/>
          <p:cNvSpPr/>
          <p:nvPr/>
        </p:nvSpPr>
        <p:spPr>
          <a:xfrm>
            <a:off x="658368" y="5056632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" y="5184648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" y="5175504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" y="5129784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limitation understood; no secrets visible</a:t>
            </a:r>
            <a:endParaRPr lang="en-US" sz="1230" dirty="0"/>
          </a:p>
        </p:txBody>
      </p:sp>
      <p:sp>
        <p:nvSpPr>
          <p:cNvPr id="48" name="Shape 46"/>
          <p:cNvSpPr/>
          <p:nvPr/>
        </p:nvSpPr>
        <p:spPr>
          <a:xfrm>
            <a:off x="6190488" y="5056632"/>
            <a:ext cx="5257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5184648"/>
            <a:ext cx="256032" cy="256032"/>
          </a:xfrm>
          <a:prstGeom prst="ellipse">
            <a:avLst/>
          </a:prstGeom>
          <a:solidFill>
            <a:srgbClr val="4D8A62"/>
          </a:solidFill>
          <a:ln w="12700">
            <a:solidFill>
              <a:srgbClr val="4D8A6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5175504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84264" y="5129784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screenshots / this PDF ready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data to prepare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realistic but fictional information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572768"/>
            <a:ext cx="5463540" cy="448056"/>
          </a:xfrm>
          <a:prstGeom prst="rect">
            <a:avLst/>
          </a:prstGeom>
          <a:solidFill>
            <a:srgbClr val="10241F"/>
          </a:solidFill>
          <a:ln w="889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609344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5332" y="1572768"/>
            <a:ext cx="5463540" cy="448056"/>
          </a:xfrm>
          <a:prstGeom prst="rect">
            <a:avLst/>
          </a:prstGeom>
          <a:solidFill>
            <a:srgbClr val="10241F"/>
          </a:solidFill>
          <a:ln w="8890">
            <a:solidFill>
              <a:srgbClr val="1024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67628" y="1609344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example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2020824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057400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085332" y="2020824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7628" y="2057400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Retail Pvt Ltd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21792" y="2468880"/>
            <a:ext cx="5463540" cy="448056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505456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Pickup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085332" y="2468880"/>
            <a:ext cx="5463540" cy="448056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7628" y="2505456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Mumbai Distribution Centre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1792" y="2916936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953512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085332" y="2916936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7628" y="2953512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Pune Central Warehouse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1792" y="3364992"/>
            <a:ext cx="5463540" cy="448056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401568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085332" y="3364992"/>
            <a:ext cx="5463540" cy="448056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7628" y="3401568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BML-DEMO-001 | Packaged goods | 10 tons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21792" y="3813048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849624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6085332" y="3813048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7628" y="3849624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MH12AB1234 | 25-ton truck | Available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621792" y="4261104"/>
            <a:ext cx="5463540" cy="448056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4297680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6085332" y="4261104"/>
            <a:ext cx="5463540" cy="448056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7628" y="4297680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Ramesh Kumar | Valid licence | Available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621792" y="4709160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745736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Quotation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085332" y="4709160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7628" y="4745736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freight + fuel + toll + tax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621792" y="5157216"/>
            <a:ext cx="5463540" cy="448056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5193792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6085332" y="5157216"/>
            <a:ext cx="5463540" cy="448056"/>
          </a:xfrm>
          <a:prstGeom prst="rect">
            <a:avLst/>
          </a:prstGeom>
          <a:solidFill>
            <a:srgbClr val="E9EEE7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7628" y="5193792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receipt + toll charge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621792" y="5605272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" y="5641848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6085332" y="5605272"/>
            <a:ext cx="5463540" cy="448056"/>
          </a:xfrm>
          <a:prstGeom prst="rect">
            <a:avLst/>
          </a:prstGeom>
          <a:solidFill>
            <a:srgbClr val="FFFFFF"/>
          </a:solidFill>
          <a:ln w="8890">
            <a:solidFill>
              <a:srgbClr val="D9E1D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67628" y="5641848"/>
            <a:ext cx="5298948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Recipient: Demo Receiver | OTP or signature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boundaries and production readiness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included—and what requires deployment configuration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Included now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Role-protected multi-tenant workflows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demo / PostgreSQL support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login, auditing and migrations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reports, exports and background reminders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for production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and secure cookies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Google OAuth origins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PostgreSQL and backups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provider and sender identity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Managed/self-hosted geocoding for scale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572768"/>
            <a:ext cx="3547872" cy="4361688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9E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7647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presentation notes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3024" y="2240280"/>
            <a:ext cx="3218688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depends on browser/device permission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are manually recorded, not processed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SMS/Twilio is marked as coming soon</a:t>
            </a:r>
            <a:endParaRPr lang="en-US" sz="1250" dirty="0"/>
          </a:p>
          <a:p>
            <a:pPr marL="158750" indent="-158750">
              <a:buSzPct val="100000"/>
              <a:buChar char="•"/>
            </a:pPr>
            <a:r>
              <a:rPr lang="en-US" sz="125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Settings quick actions are placeholders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110185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discovery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3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demo into a requirements conversation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6132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branches, dispatchers, vehicles, drivers and daily loads?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fleet, outsourced transporters, or both?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approves loads, expenses and invoices today?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documents and expiry rules are mandatory?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tracking frequency and alert thresholds are expected?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accounting, ERP, GPS, email or payment systems need integration?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reports and KPIs matter to management?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the rollout, hosting, security and data-migration expectations?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65392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5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F"/>
          </a:solidFill>
          <a:ln w="12700">
            <a:solidFill>
              <a:srgbClr val="10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987552"/>
            <a:ext cx="5212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8F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4944" y="1847088"/>
            <a:ext cx="10789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load request to profitable delivery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44368"/>
            <a:ext cx="9966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C9D4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BookMyLoad connects planning, execution, compliance and cash visibility in one workflow.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5230368"/>
            <a:ext cx="1828800" cy="0"/>
          </a:xfrm>
          <a:prstGeom prst="line">
            <a:avLst/>
          </a:prstGeom>
          <a:noFill/>
          <a:ln w="63500">
            <a:solidFill>
              <a:srgbClr val="D8FF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504688"/>
            <a:ext cx="5303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FA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the current application · August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BookMyLoad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BookMyLoad Client Demonstration Guide</dc:title>
  <dc:subject>Client demonstration and application flow</dc:subject>
  <dc:creator>BookMyLoad</dc:creator>
  <cp:lastModifiedBy>BookMyLoad</cp:lastModifiedBy>
  <cp:revision>1</cp:revision>
  <dcterms:created xsi:type="dcterms:W3CDTF">2026-08-16T08:12:40Z</dcterms:created>
  <dcterms:modified xsi:type="dcterms:W3CDTF">2026-08-16T08:12:40Z</dcterms:modified>
</cp:coreProperties>
</file>